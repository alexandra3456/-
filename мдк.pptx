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oper BT Bold" panose="020B0604020202020204" charset="0"/>
      <p:regular r:id="rId20"/>
    </p:embeddedFont>
    <p:embeddedFont>
      <p:font typeface="Cooper BT Light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98" y="-6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андра Гроза" userId="2130308e57f2e334" providerId="LiveId" clId="{103C71AA-7EBE-4A27-B53F-63DB5501A870}"/>
    <pc:docChg chg="undo custSel modSld">
      <pc:chgData name="Александра Гроза" userId="2130308e57f2e334" providerId="LiveId" clId="{103C71AA-7EBE-4A27-B53F-63DB5501A870}" dt="2025-06-17T15:54:14.212" v="12" actId="14100"/>
      <pc:docMkLst>
        <pc:docMk/>
      </pc:docMkLst>
      <pc:sldChg chg="modSp mod">
        <pc:chgData name="Александра Гроза" userId="2130308e57f2e334" providerId="LiveId" clId="{103C71AA-7EBE-4A27-B53F-63DB5501A870}" dt="2025-06-17T15:50:59.507" v="11"/>
        <pc:sldMkLst>
          <pc:docMk/>
          <pc:sldMk cId="0" sldId="256"/>
        </pc:sldMkLst>
        <pc:spChg chg="mod">
          <ac:chgData name="Александра Гроза" userId="2130308e57f2e334" providerId="LiveId" clId="{103C71AA-7EBE-4A27-B53F-63DB5501A870}" dt="2025-06-17T15:50:59.507" v="11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Александра Гроза" userId="2130308e57f2e334" providerId="LiveId" clId="{103C71AA-7EBE-4A27-B53F-63DB5501A870}" dt="2025-06-17T15:54:14.212" v="12" actId="14100"/>
        <pc:sldMkLst>
          <pc:docMk/>
          <pc:sldMk cId="0" sldId="258"/>
        </pc:sldMkLst>
        <pc:spChg chg="mod">
          <ac:chgData name="Александра Гроза" userId="2130308e57f2e334" providerId="LiveId" clId="{103C71AA-7EBE-4A27-B53F-63DB5501A870}" dt="2025-06-17T15:54:14.212" v="12" actId="14100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Александра Гроза" userId="2130308e57f2e334" providerId="LiveId" clId="{103C71AA-7EBE-4A27-B53F-63DB5501A870}" dt="2025-06-17T15:50:52.122" v="10"/>
        <pc:sldMkLst>
          <pc:docMk/>
          <pc:sldMk cId="0" sldId="269"/>
        </pc:sldMkLst>
        <pc:spChg chg="mod">
          <ac:chgData name="Александра Гроза" userId="2130308e57f2e334" providerId="LiveId" clId="{103C71AA-7EBE-4A27-B53F-63DB5501A870}" dt="2025-06-17T15:50:52.122" v="10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38718" y="3832860"/>
            <a:ext cx="12737178" cy="239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СЕТЬ КОФЕЕН В САНКТ – ПЕТЕРБУРГЕ</a:t>
            </a:r>
          </a:p>
        </p:txBody>
      </p:sp>
      <p:sp>
        <p:nvSpPr>
          <p:cNvPr id="3" name="Freeform 3"/>
          <p:cNvSpPr/>
          <p:nvPr/>
        </p:nvSpPr>
        <p:spPr>
          <a:xfrm>
            <a:off x="-1889093" y="-2025661"/>
            <a:ext cx="4010284" cy="5327672"/>
          </a:xfrm>
          <a:custGeom>
            <a:avLst/>
            <a:gdLst/>
            <a:ahLst/>
            <a:cxnLst/>
            <a:rect l="l" t="t" r="r" b="b"/>
            <a:pathLst>
              <a:path w="4010284" h="5327672">
                <a:moveTo>
                  <a:pt x="0" y="0"/>
                </a:moveTo>
                <a:lnTo>
                  <a:pt x="4010284" y="0"/>
                </a:lnTo>
                <a:lnTo>
                  <a:pt x="4010284" y="5327672"/>
                </a:lnTo>
                <a:lnTo>
                  <a:pt x="0" y="53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6247">
            <a:off x="-1156514" y="5381726"/>
            <a:ext cx="6088034" cy="7200900"/>
          </a:xfrm>
          <a:custGeom>
            <a:avLst/>
            <a:gdLst/>
            <a:ahLst/>
            <a:cxnLst/>
            <a:rect l="l" t="t" r="r" b="b"/>
            <a:pathLst>
              <a:path w="6088034" h="7200900">
                <a:moveTo>
                  <a:pt x="0" y="0"/>
                </a:moveTo>
                <a:lnTo>
                  <a:pt x="6088034" y="0"/>
                </a:lnTo>
                <a:lnTo>
                  <a:pt x="608803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690362">
            <a:off x="12526631" y="-2276459"/>
            <a:ext cx="6088034" cy="7200900"/>
          </a:xfrm>
          <a:custGeom>
            <a:avLst/>
            <a:gdLst/>
            <a:ahLst/>
            <a:cxnLst/>
            <a:rect l="l" t="t" r="r" b="b"/>
            <a:pathLst>
              <a:path w="6088034" h="7200900">
                <a:moveTo>
                  <a:pt x="0" y="0"/>
                </a:moveTo>
                <a:lnTo>
                  <a:pt x="6088034" y="0"/>
                </a:lnTo>
                <a:lnTo>
                  <a:pt x="608803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659771">
            <a:off x="16282858" y="6968873"/>
            <a:ext cx="4010284" cy="5327672"/>
          </a:xfrm>
          <a:custGeom>
            <a:avLst/>
            <a:gdLst/>
            <a:ahLst/>
            <a:cxnLst/>
            <a:rect l="l" t="t" r="r" b="b"/>
            <a:pathLst>
              <a:path w="4010284" h="5327672">
                <a:moveTo>
                  <a:pt x="0" y="0"/>
                </a:moveTo>
                <a:lnTo>
                  <a:pt x="4010284" y="0"/>
                </a:lnTo>
                <a:lnTo>
                  <a:pt x="4010284" y="5327672"/>
                </a:lnTo>
                <a:lnTo>
                  <a:pt x="0" y="53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888150" y="8915501"/>
            <a:ext cx="4287746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Шмалько Александра</a:t>
            </a:r>
          </a:p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Алексеевна 22919/21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75411" y="6225540"/>
            <a:ext cx="12737178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1800" b="1" dirty="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https://github.com/alexandra3456/-.git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340309"/>
            <a:ext cx="13180039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ПРЕДМЕТНАЯ ОБЛАСТЬ</a:t>
            </a:r>
          </a:p>
        </p:txBody>
      </p:sp>
      <p:sp>
        <p:nvSpPr>
          <p:cNvPr id="3" name="Freeform 3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5" name="Group 5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2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78890" y="2075231"/>
            <a:ext cx="14705320" cy="6582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Решение создать сайт было принято в связи с </a:t>
            </a: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недостатком функционала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в информационном блоке </a:t>
            </a: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соц. сетей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кофеен.</a:t>
            </a:r>
          </a:p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Кофейни </a:t>
            </a: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популяризированы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благодаря авторскому кофе. </a:t>
            </a:r>
          </a:p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На сайте будет располагаться общая информация: меню, адреса кофеен, отзывы. </a:t>
            </a:r>
          </a:p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Уровней доступа 2 - </a:t>
            </a: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администратор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и </a:t>
            </a: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потенциальный клиент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. </a:t>
            </a:r>
          </a:p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Нагрузка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на сайт 3 тысячи человек (заказчик просил 1 тыс.)</a:t>
            </a:r>
          </a:p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Защита сайта больше всего направлена на </a:t>
            </a: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целостность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: защита от видоизменения сайта</a:t>
            </a:r>
          </a:p>
          <a:p>
            <a:pPr marL="718299" lvl="1" indent="-359150" algn="l">
              <a:lnSpc>
                <a:spcPts val="4657"/>
              </a:lnSpc>
              <a:buFont typeface="Arial"/>
              <a:buChar char="•"/>
            </a:pPr>
            <a:r>
              <a:rPr lang="en-US" sz="3326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Срок работы</a:t>
            </a: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над проектом будет составлять 1 месяц</a:t>
            </a:r>
          </a:p>
        </p:txBody>
      </p:sp>
      <p:sp>
        <p:nvSpPr>
          <p:cNvPr id="10" name="Freeform 10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659771">
            <a:off x="17042837" y="8984195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7" y="0"/>
                </a:lnTo>
                <a:lnTo>
                  <a:pt x="3371127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4" name="Group 4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3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3980" y="388764"/>
            <a:ext cx="13180039" cy="88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МОДЕЛЬ ЖИЗНЕННОГО ЦИКЛА </a:t>
            </a:r>
            <a:r>
              <a:rPr lang="en-US" sz="5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AGILE</a:t>
            </a:r>
          </a:p>
        </p:txBody>
      </p:sp>
      <p:sp>
        <p:nvSpPr>
          <p:cNvPr id="10" name="Freeform 10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665646">
            <a:off x="-1039187" y="7463495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4" y="0"/>
                </a:lnTo>
                <a:lnTo>
                  <a:pt x="4135774" y="4891777"/>
                </a:lnTo>
                <a:lnTo>
                  <a:pt x="0" y="4891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2858" y="2515338"/>
            <a:ext cx="8444736" cy="6460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 err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Плюсы</a:t>
            </a:r>
            <a:r>
              <a:rPr lang="en-US" sz="2799" b="1" dirty="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: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Быстрая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адаптация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к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изменениям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в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требованиях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Возможность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частых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релизов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и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получения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обратной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связи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от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пользователей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Проект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разбивается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на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небольшие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этапы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(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спринты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),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что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позволяет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регулярно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получать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обратную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связь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и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вносить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коррективы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Заказчик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может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активно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участвовать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в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процессе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что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позволяет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лучше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учитывать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его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видение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и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предпочтения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Постоянное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тестирование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и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доработка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дизайна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на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каждом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этапе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помогает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выявлять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и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исправлять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ошибки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на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ранних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2799" dirty="0" err="1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стадиях</a:t>
            </a:r>
            <a:r>
              <a:rPr lang="en-US" sz="2799" dirty="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2605986"/>
            <a:ext cx="8585863" cy="644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Минусы: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Будет затрачено большое количество времени на внесение корректировок после каждого этапа 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Из-за частых изменений может присутствовать отвлечение от общей концепции, что может привести к несогласованности в конечном продукте.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Прогрессивность ЖЦ Agile во многом зависит от активного участия заказчика, что может быть сложно, если у него ограниченное время или ресурсы.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Риски в сроках и бюджете.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6059" y="1688040"/>
            <a:ext cx="510569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Agile (Гибкая модель) 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8927594" y="2268430"/>
            <a:ext cx="0" cy="71861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814" y="1706826"/>
            <a:ext cx="16168136" cy="7328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7"/>
              </a:lnSpc>
            </a:pPr>
            <a:r>
              <a:rPr lang="en-US" sz="4441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Этапы: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Рассмотреть структуру социальных сетей проекта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Проанализировать ЦА, изучить аналоги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Разработка концепции сайта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Разработка удобной навигации сайта (карта навигации)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Создать макеты сайта с описание элементов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Принципы удобного GUI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Написание кода программы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Создание системы обратной связи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Составление инструкции для администратора сайта </a:t>
            </a:r>
          </a:p>
          <a:p>
            <a:pPr marL="730570" lvl="1" indent="-365285" algn="l">
              <a:lnSpc>
                <a:spcPts val="4737"/>
              </a:lnSpc>
              <a:buFont typeface="Arial"/>
              <a:buChar char="•"/>
            </a:pPr>
            <a:r>
              <a:rPr lang="en-US" sz="3383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Тестирование сайта </a:t>
            </a:r>
          </a:p>
          <a:p>
            <a:pPr algn="l">
              <a:lnSpc>
                <a:spcPts val="4737"/>
              </a:lnSpc>
            </a:pPr>
            <a:endParaRPr lang="en-US" sz="3383">
              <a:solidFill>
                <a:srgbClr val="331C2C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553980" y="537528"/>
            <a:ext cx="13180039" cy="88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МОДЕЛЬ ЖИЗНЕННОГО ЦИКЛА </a:t>
            </a:r>
            <a:r>
              <a:rPr lang="en-US" sz="5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AGILE</a:t>
            </a:r>
          </a:p>
        </p:txBody>
      </p:sp>
      <p:sp>
        <p:nvSpPr>
          <p:cNvPr id="4" name="Freeform 4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6" name="Group 6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4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665646">
            <a:off x="-1039187" y="7463495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4" y="0"/>
                </a:lnTo>
                <a:lnTo>
                  <a:pt x="4135774" y="4891777"/>
                </a:lnTo>
                <a:lnTo>
                  <a:pt x="0" y="4891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6059" y="1651231"/>
            <a:ext cx="8932259" cy="195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Уровней доступа 2: </a:t>
            </a: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администратор и потенциальный клиент</a:t>
            </a:r>
          </a:p>
        </p:txBody>
      </p:sp>
      <p:sp>
        <p:nvSpPr>
          <p:cNvPr id="3" name="Freeform 3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5" name="Group 5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5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53980" y="257674"/>
            <a:ext cx="13180039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ИНТЕРФЕЙС</a:t>
            </a:r>
          </a:p>
        </p:txBody>
      </p:sp>
      <p:sp>
        <p:nvSpPr>
          <p:cNvPr id="10" name="Freeform 10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959922" y="3099920"/>
            <a:ext cx="12827622" cy="7399308"/>
          </a:xfrm>
          <a:custGeom>
            <a:avLst/>
            <a:gdLst/>
            <a:ahLst/>
            <a:cxnLst/>
            <a:rect l="l" t="t" r="r" b="b"/>
            <a:pathLst>
              <a:path w="12827622" h="7399308">
                <a:moveTo>
                  <a:pt x="0" y="0"/>
                </a:moveTo>
                <a:lnTo>
                  <a:pt x="12827622" y="0"/>
                </a:lnTo>
                <a:lnTo>
                  <a:pt x="12827622" y="7399309"/>
                </a:lnTo>
                <a:lnTo>
                  <a:pt x="0" y="7399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96" t="-6074" r="-4747" b="-553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4" name="Group 4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6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68813" y="1109481"/>
            <a:ext cx="4182217" cy="67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 b="1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Главная</a:t>
            </a:r>
          </a:p>
        </p:txBody>
      </p:sp>
      <p:sp>
        <p:nvSpPr>
          <p:cNvPr id="11" name="Freeform 11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59916" y="2012351"/>
            <a:ext cx="7819514" cy="3821787"/>
          </a:xfrm>
          <a:custGeom>
            <a:avLst/>
            <a:gdLst/>
            <a:ahLst/>
            <a:cxnLst/>
            <a:rect l="l" t="t" r="r" b="b"/>
            <a:pathLst>
              <a:path w="7819514" h="3821787">
                <a:moveTo>
                  <a:pt x="0" y="0"/>
                </a:moveTo>
                <a:lnTo>
                  <a:pt x="7819514" y="0"/>
                </a:lnTo>
                <a:lnTo>
                  <a:pt x="7819514" y="3821787"/>
                </a:lnTo>
                <a:lnTo>
                  <a:pt x="0" y="38217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59916" y="6243713"/>
            <a:ext cx="7902361" cy="4043287"/>
          </a:xfrm>
          <a:custGeom>
            <a:avLst/>
            <a:gdLst/>
            <a:ahLst/>
            <a:cxnLst/>
            <a:rect l="l" t="t" r="r" b="b"/>
            <a:pathLst>
              <a:path w="7902361" h="4043287">
                <a:moveTo>
                  <a:pt x="0" y="0"/>
                </a:moveTo>
                <a:lnTo>
                  <a:pt x="7902362" y="0"/>
                </a:lnTo>
                <a:lnTo>
                  <a:pt x="7902362" y="4043287"/>
                </a:lnTo>
                <a:lnTo>
                  <a:pt x="0" y="40432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10" r="-91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91113" y="2012351"/>
            <a:ext cx="6166957" cy="8291707"/>
          </a:xfrm>
          <a:custGeom>
            <a:avLst/>
            <a:gdLst/>
            <a:ahLst/>
            <a:cxnLst/>
            <a:rect l="l" t="t" r="r" b="b"/>
            <a:pathLst>
              <a:path w="6166957" h="8291707">
                <a:moveTo>
                  <a:pt x="0" y="0"/>
                </a:moveTo>
                <a:lnTo>
                  <a:pt x="6166957" y="0"/>
                </a:lnTo>
                <a:lnTo>
                  <a:pt x="6166957" y="8291707"/>
                </a:lnTo>
                <a:lnTo>
                  <a:pt x="0" y="82917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95769" y="151240"/>
            <a:ext cx="14096463" cy="11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ИНТЕРФЕЙС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88321" y="1833600"/>
            <a:ext cx="4182217" cy="67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 b="1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Отзывы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85081" y="6119726"/>
            <a:ext cx="4182217" cy="67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 b="1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Меню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4807" y="1916711"/>
            <a:ext cx="1105361" cy="1105361"/>
            <a:chOff x="0" y="0"/>
            <a:chExt cx="1473815" cy="147381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1C2C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21055"/>
              <a:ext cx="1473815" cy="1126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 b="1">
                  <a:solidFill>
                    <a:srgbClr val="EDE0D1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9" name="Group 9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7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550168" y="179815"/>
            <a:ext cx="14709132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ИНСТРУКЦИЯ ДЛЯ АДМИНИСТРАТОРА САЙТА (РУКОВОДСТВО)</a:t>
            </a:r>
          </a:p>
        </p:txBody>
      </p:sp>
      <p:sp>
        <p:nvSpPr>
          <p:cNvPr id="15" name="Freeform 15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778768" y="2119824"/>
            <a:ext cx="1623441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Функция: </a:t>
            </a:r>
            <a:r>
              <a:rPr lang="en-US" sz="36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“Замена позиции в меню”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78768" y="6315458"/>
            <a:ext cx="5814746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Ожидаемый результат: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78768" y="2908047"/>
            <a:ext cx="14544664" cy="324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1)   Зайти в аккаунт администратора по специальной ссылке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2)   Перейти в раздел "Управление меню" → "Редактирование позиций"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3)   Выбрать заменяемую позицию → нажать "Изменить"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4)   Внести новые данные (название, описание, цену, изображение)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5)   Подтвердить изменения через SMS-верификацию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6)   Проверить отображение в предпросмотре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78768" y="7024753"/>
            <a:ext cx="10591800" cy="161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·Обновленная позиция отображается в меню на сайте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·Старая версия автоматически сохраняется в архиве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·Изменения фиксируются в журнале изменений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659771">
            <a:off x="17572544" y="3925013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885869" y="8946686"/>
            <a:ext cx="1193520" cy="1159060"/>
            <a:chOff x="0" y="0"/>
            <a:chExt cx="1591360" cy="1545414"/>
          </a:xfrm>
        </p:grpSpPr>
        <p:grpSp>
          <p:nvGrpSpPr>
            <p:cNvPr id="4" name="Group 4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8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0168" y="179815"/>
            <a:ext cx="14709132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ИНСТРУКЦИЯ ДЛЯ АДМИНИСТРАТОРА САЙТА (РУКОВОДСТВО)</a:t>
            </a:r>
          </a:p>
        </p:txBody>
      </p:sp>
      <p:sp>
        <p:nvSpPr>
          <p:cNvPr id="10" name="Freeform 10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65399" y="1939920"/>
            <a:ext cx="16234411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Функция: </a:t>
            </a:r>
            <a:r>
              <a:rPr lang="en-US" sz="36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«Замена адреса кофейни»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331C2C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65399" y="6904349"/>
            <a:ext cx="5814746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Ожидаемый результат: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65399" y="2541900"/>
            <a:ext cx="15011543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1)   Зайти в аккаунт администратора по специальной ссылке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2)   Перейти в раздел "Где находимся" → "Редактирование данных"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3)   Нажать "Изменить адрес" в блоке "Адреса кофеен"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4)   Внести новые данные: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·полный адрес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·часы работы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·заменить гугл-карту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5)   Подтвердить изменения через SMS-верификацию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30433" y="1848595"/>
            <a:ext cx="1105361" cy="1105361"/>
            <a:chOff x="0" y="0"/>
            <a:chExt cx="1473815" cy="1473815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1C2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121055"/>
              <a:ext cx="1473815" cy="1135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 b="1">
                  <a:solidFill>
                    <a:srgbClr val="EDE0D1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435794" y="7562068"/>
            <a:ext cx="16668369" cy="21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·Новый адрес отображается в разделе "Где находимся" и на странице «Главная»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·Карты Google Maps/Яндекс.Карты автоматически обновляются в течение 1 часа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·Старый адрес сохраняется в архиве изменений на 90 дней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·Изменение фиксируется в журнале изменений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4" name="Group 4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9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0168" y="179815"/>
            <a:ext cx="14709132" cy="165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3"/>
              </a:lnSpc>
            </a:pPr>
            <a:r>
              <a:rPr lang="en-US" sz="4745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ИНСТРУКЦИЯ ДЛЯ АДМИНИСТРАТОРА САЙТА (РУКОВОДСТВО)</a:t>
            </a:r>
          </a:p>
        </p:txBody>
      </p:sp>
      <p:sp>
        <p:nvSpPr>
          <p:cNvPr id="10" name="Freeform 10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78768" y="2229793"/>
            <a:ext cx="16234411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Функция: </a:t>
            </a:r>
            <a:r>
              <a:rPr lang="en-US" sz="36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«Спорная ситуация: попытка дублирования напитка»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331C2C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778768" y="7413277"/>
            <a:ext cx="5814746" cy="58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326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Ожидаемый результат: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78768" y="3041911"/>
            <a:ext cx="15565178" cy="417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1)   Зайти в аккаунт администратора по специальной ссылке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2)   Перейти в раздел "Меню" → Выбираем нужный адрес→"Добавить позицию"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3)   Заполнить обязательные поля: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·Название напитка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·Загрузить фото в соответствующем формате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4)   Подтвердить действие через кнопку «Подтвердить добавление»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5)   При попытке добавить напиток с идентичным названием, система выдает ошибку "Такая позиция уже существует"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75315" y="8012786"/>
            <a:ext cx="8120658" cy="161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·Уведомление о возникшей ошибке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·Напиток не появляется в разделе меню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·Предотвратить повторяющиеся позиции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60038" y="2026680"/>
            <a:ext cx="1105361" cy="1105361"/>
            <a:chOff x="0" y="0"/>
            <a:chExt cx="1473815" cy="147381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1C2C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121055"/>
              <a:ext cx="1473815" cy="1135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 b="1">
                  <a:solidFill>
                    <a:srgbClr val="EDE0D1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5529" y="1868316"/>
            <a:ext cx="516960" cy="5169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1C2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60038" y="414655"/>
            <a:ext cx="16103709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ОЦЕНОЧНЫЕ ЭЛЕМЕНТЫ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11959" y="1782591"/>
            <a:ext cx="8175958" cy="73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7"/>
              </a:lnSpc>
            </a:pPr>
            <a:r>
              <a:rPr lang="en-US" sz="4197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Удобство использования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1959" y="4566560"/>
            <a:ext cx="7530658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Производительность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49983" y="2598946"/>
            <a:ext cx="505461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Привлекательность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55529" y="4716703"/>
            <a:ext cx="516960" cy="51696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1C2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14" name="Group 14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10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665646">
            <a:off x="-1457097" y="7783877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7"/>
                </a:lnTo>
                <a:lnTo>
                  <a:pt x="0" y="4891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649983" y="3231100"/>
            <a:ext cx="505461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Понятность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49983" y="3811807"/>
            <a:ext cx="505461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Удобство работы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49983" y="5336180"/>
            <a:ext cx="629263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Временная эффективность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49983" y="5969275"/>
            <a:ext cx="888412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Эффективность использования ресурсов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49983" y="6602370"/>
            <a:ext cx="888412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Эффективность использования ресурсов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11959" y="7329114"/>
            <a:ext cx="3445371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Надёжность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555529" y="7479256"/>
            <a:ext cx="516960" cy="51696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1C2C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649983" y="8146359"/>
            <a:ext cx="774455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Способность к восстановлению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49983" y="8710930"/>
            <a:ext cx="774455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Устойчивость к отказам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49983" y="9277350"/>
            <a:ext cx="774455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Зрелость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6059" y="414655"/>
            <a:ext cx="16230600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ТЕСТИРОВАНИЕ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67838" y="2966270"/>
            <a:ext cx="516960" cy="51696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1C2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7838" y="5494136"/>
            <a:ext cx="516960" cy="51696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1C2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11" name="Group 11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11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616070" y="2221897"/>
            <a:ext cx="8235135" cy="6248539"/>
          </a:xfrm>
          <a:custGeom>
            <a:avLst/>
            <a:gdLst/>
            <a:ahLst/>
            <a:cxnLst/>
            <a:rect l="l" t="t" r="r" b="b"/>
            <a:pathLst>
              <a:path w="8235135" h="6248539">
                <a:moveTo>
                  <a:pt x="0" y="0"/>
                </a:moveTo>
                <a:lnTo>
                  <a:pt x="8235134" y="0"/>
                </a:lnTo>
                <a:lnTo>
                  <a:pt x="8235134" y="6248539"/>
                </a:lnTo>
                <a:lnTo>
                  <a:pt x="0" y="6248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508477" y="3548682"/>
            <a:ext cx="13970953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…-1 , 0 ,[1, 2, 3, 4, </a:t>
            </a:r>
            <a:r>
              <a:rPr lang="en-US" sz="3099" b="1">
                <a:solidFill>
                  <a:srgbClr val="4472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5</a:t>
            </a: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, 6, 7, 8, 9, 10], 11, </a:t>
            </a:r>
            <a:r>
              <a:rPr lang="en-US" sz="3099" b="1">
                <a:solidFill>
                  <a:srgbClr val="9D2317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12</a:t>
            </a: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…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08477" y="2796853"/>
            <a:ext cx="950055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Эквивалентное разделение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08477" y="5324719"/>
            <a:ext cx="1067444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Анализ граничных значений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08477" y="6077771"/>
            <a:ext cx="13970953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…-1 , </a:t>
            </a:r>
            <a:r>
              <a:rPr lang="en-US" sz="3099" b="1">
                <a:solidFill>
                  <a:srgbClr val="9D2317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0</a:t>
            </a: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,[</a:t>
            </a:r>
            <a:r>
              <a:rPr lang="en-US" sz="3099" b="1">
                <a:solidFill>
                  <a:srgbClr val="4472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</a:t>
            </a: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, 2, 3, 4, 5, 6, 7, 8, 9, </a:t>
            </a:r>
            <a:r>
              <a:rPr lang="en-US" sz="3099" b="1">
                <a:solidFill>
                  <a:srgbClr val="4472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10</a:t>
            </a: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], </a:t>
            </a:r>
            <a:r>
              <a:rPr lang="en-US" sz="3099" b="1">
                <a:solidFill>
                  <a:srgbClr val="9D2317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11</a:t>
            </a:r>
            <a:r>
              <a:rPr lang="en-US" sz="30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, 12 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7838" y="1787364"/>
            <a:ext cx="9500556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1" u="sng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Техники: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9332" y="151240"/>
            <a:ext cx="13180039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ТЕСТИРОВАНИЕ</a:t>
            </a:r>
          </a:p>
        </p:txBody>
      </p:sp>
      <p:sp>
        <p:nvSpPr>
          <p:cNvPr id="3" name="Freeform 3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5" name="Group 5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12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076452" y="1839050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359947" y="2153339"/>
            <a:ext cx="11224262" cy="8461401"/>
          </a:xfrm>
          <a:custGeom>
            <a:avLst/>
            <a:gdLst/>
            <a:ahLst/>
            <a:cxnLst/>
            <a:rect l="l" t="t" r="r" b="b"/>
            <a:pathLst>
              <a:path w="11224262" h="8461401">
                <a:moveTo>
                  <a:pt x="0" y="0"/>
                </a:moveTo>
                <a:lnTo>
                  <a:pt x="11224263" y="0"/>
                </a:lnTo>
                <a:lnTo>
                  <a:pt x="11224263" y="8461401"/>
                </a:lnTo>
                <a:lnTo>
                  <a:pt x="0" y="846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59" t="-5824" b="-502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0229" y="1316869"/>
            <a:ext cx="17080592" cy="207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</a:pPr>
            <a:r>
              <a:rPr lang="en-US" sz="3951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Позитивный тест-кейс № 03. Возможность поставить количество звёзд</a:t>
            </a:r>
          </a:p>
          <a:p>
            <a:pPr algn="l">
              <a:lnSpc>
                <a:spcPts val="5532"/>
              </a:lnSpc>
            </a:pPr>
            <a:endParaRPr lang="en-US" sz="3951" b="1">
              <a:solidFill>
                <a:srgbClr val="331C2C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414655"/>
            <a:ext cx="13180039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ВЫВОД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8291" y="1716325"/>
            <a:ext cx="11344554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u="sng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Проект в целом находится в стадии разработки, могут быть внесены корректировки</a:t>
            </a:r>
          </a:p>
        </p:txBody>
      </p:sp>
      <p:sp>
        <p:nvSpPr>
          <p:cNvPr id="4" name="Freeform 4"/>
          <p:cNvSpPr/>
          <p:nvPr/>
        </p:nvSpPr>
        <p:spPr>
          <a:xfrm rot="10659771">
            <a:off x="16939064" y="7804610"/>
            <a:ext cx="3371126" cy="4478549"/>
          </a:xfrm>
          <a:custGeom>
            <a:avLst/>
            <a:gdLst/>
            <a:ahLst/>
            <a:cxnLst/>
            <a:rect l="l" t="t" r="r" b="b"/>
            <a:pathLst>
              <a:path w="3371126" h="4478549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id="6" name="Group 6"/>
            <p:cNvGrpSpPr/>
            <p:nvPr/>
          </p:nvGrpSpPr>
          <p:grpSpPr>
            <a:xfrm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199997"/>
              <a:ext cx="1591360" cy="1095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1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13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10690362">
            <a:off x="14516937" y="-1346836"/>
            <a:ext cx="4134546" cy="4890324"/>
          </a:xfrm>
          <a:custGeom>
            <a:avLst/>
            <a:gdLst/>
            <a:ahLst/>
            <a:cxnLst/>
            <a:rect l="l" t="t" r="r" b="b"/>
            <a:pathLst>
              <a:path w="4134546" h="4890324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889093" y="-1787536"/>
            <a:ext cx="3105152" cy="4125202"/>
          </a:xfrm>
          <a:custGeom>
            <a:avLst/>
            <a:gdLst/>
            <a:ahLst/>
            <a:cxnLst/>
            <a:rect l="l" t="t" r="r" b="b"/>
            <a:pathLst>
              <a:path w="3105152" h="412520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665646">
            <a:off x="-607849" y="7151772"/>
            <a:ext cx="4135775" cy="4891777"/>
          </a:xfrm>
          <a:custGeom>
            <a:avLst/>
            <a:gdLst/>
            <a:ahLst/>
            <a:cxnLst/>
            <a:rect l="l" t="t" r="r" b="b"/>
            <a:pathLst>
              <a:path w="4135775" h="4891777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58291" y="3184365"/>
            <a:ext cx="8794266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Достижения: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Фокус на реальных пользователях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Быстрый старт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8291" y="5128255"/>
            <a:ext cx="10930682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Ближайшие улучшения (1-2 спринта после релиза):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Онлайн-заказ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Программа лояльности (личный кабинет, бонусы).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38718" y="3832860"/>
            <a:ext cx="12737178" cy="239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СЕТЬ КОФЕЕН В САНКТ – ПЕТЕРБУРГЕ</a:t>
            </a:r>
          </a:p>
        </p:txBody>
      </p:sp>
      <p:sp>
        <p:nvSpPr>
          <p:cNvPr id="3" name="Freeform 3"/>
          <p:cNvSpPr/>
          <p:nvPr/>
        </p:nvSpPr>
        <p:spPr>
          <a:xfrm>
            <a:off x="-1889093" y="-2025661"/>
            <a:ext cx="4010284" cy="5327672"/>
          </a:xfrm>
          <a:custGeom>
            <a:avLst/>
            <a:gdLst/>
            <a:ahLst/>
            <a:cxnLst/>
            <a:rect l="l" t="t" r="r" b="b"/>
            <a:pathLst>
              <a:path w="4010284" h="5327672">
                <a:moveTo>
                  <a:pt x="0" y="0"/>
                </a:moveTo>
                <a:lnTo>
                  <a:pt x="4010284" y="0"/>
                </a:lnTo>
                <a:lnTo>
                  <a:pt x="4010284" y="5327672"/>
                </a:lnTo>
                <a:lnTo>
                  <a:pt x="0" y="53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6247">
            <a:off x="-1156514" y="5381726"/>
            <a:ext cx="6088034" cy="7200900"/>
          </a:xfrm>
          <a:custGeom>
            <a:avLst/>
            <a:gdLst/>
            <a:ahLst/>
            <a:cxnLst/>
            <a:rect l="l" t="t" r="r" b="b"/>
            <a:pathLst>
              <a:path w="6088034" h="7200900">
                <a:moveTo>
                  <a:pt x="0" y="0"/>
                </a:moveTo>
                <a:lnTo>
                  <a:pt x="6088034" y="0"/>
                </a:lnTo>
                <a:lnTo>
                  <a:pt x="608803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690362">
            <a:off x="12526631" y="-2276459"/>
            <a:ext cx="6088034" cy="7200900"/>
          </a:xfrm>
          <a:custGeom>
            <a:avLst/>
            <a:gdLst/>
            <a:ahLst/>
            <a:cxnLst/>
            <a:rect l="l" t="t" r="r" b="b"/>
            <a:pathLst>
              <a:path w="6088034" h="7200900">
                <a:moveTo>
                  <a:pt x="0" y="0"/>
                </a:moveTo>
                <a:lnTo>
                  <a:pt x="6088034" y="0"/>
                </a:lnTo>
                <a:lnTo>
                  <a:pt x="608803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659771">
            <a:off x="16282858" y="6968873"/>
            <a:ext cx="4010284" cy="5327672"/>
          </a:xfrm>
          <a:custGeom>
            <a:avLst/>
            <a:gdLst/>
            <a:ahLst/>
            <a:cxnLst/>
            <a:rect l="l" t="t" r="r" b="b"/>
            <a:pathLst>
              <a:path w="4010284" h="5327672">
                <a:moveTo>
                  <a:pt x="0" y="0"/>
                </a:moveTo>
                <a:lnTo>
                  <a:pt x="4010284" y="0"/>
                </a:lnTo>
                <a:lnTo>
                  <a:pt x="4010284" y="5327672"/>
                </a:lnTo>
                <a:lnTo>
                  <a:pt x="0" y="53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888150" y="8915501"/>
            <a:ext cx="4287746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Шмалько Александра</a:t>
            </a:r>
          </a:p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Алексеевна 22919/21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75411" y="6225540"/>
            <a:ext cx="12737178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1800" b="1" dirty="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https://github.com/alexandra3456/-.git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811</Words>
  <Application>Microsoft Office PowerPoint</Application>
  <PresentationFormat>Произвольный</PresentationFormat>
  <Paragraphs>132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Cooper BT Light</vt:lpstr>
      <vt:lpstr>Cooper BT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Purple Abstract Thesis Defense Presentation</dc:title>
  <cp:lastModifiedBy>Александра Гроза</cp:lastModifiedBy>
  <cp:revision>1</cp:revision>
  <dcterms:created xsi:type="dcterms:W3CDTF">2006-08-16T00:00:00Z</dcterms:created>
  <dcterms:modified xsi:type="dcterms:W3CDTF">2025-06-17T15:54:17Z</dcterms:modified>
  <dc:identifier>DAGqh1sqbU0</dc:identifier>
</cp:coreProperties>
</file>